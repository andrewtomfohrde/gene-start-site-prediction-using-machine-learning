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Nuni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C3991D4-AE75-41C2-905E-BA96777BEF1D}">
  <a:tblStyle styleId="{2C3991D4-AE75-41C2-905E-BA96777BEF1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Nunito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Nunit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Nuni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42fccd77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42fccd77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RH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42fccd77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42fccd77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Andrew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used labeled data from RefSeq.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 humans, we extracted 100 to 300 base-pair windows centered around annotated start codons, and created negative examples from similar non-start regions.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encoded sequences using one-hot encoding as well as k-mer frequency features.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For bacteria, we used the </a:t>
            </a:r>
            <a:r>
              <a:rPr i="1" lang="en">
                <a:solidFill>
                  <a:schemeClr val="dk1"/>
                </a:solidFill>
              </a:rPr>
              <a:t>E. coli K-12</a:t>
            </a:r>
            <a:r>
              <a:rPr lang="en">
                <a:solidFill>
                  <a:schemeClr val="dk1"/>
                </a:solidFill>
              </a:rPr>
              <a:t> genome and built a cleaner dataset by scanning all possible start codons and removing true gene starts, ensuring a balanced dataset.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eba28beb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eba28beb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RH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42fccd77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42fccd77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Andrew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logistic regression on the human dataset, increasing the window size from 100 bp to 300 bp led to a small improvement in accuracy, from about 55.9% to 56.5%.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suggests that simply increasing sequence context isn’t enough the limitation is likely in the one-hot encoding rather than window size.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performance stayed close to random guessing.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eba28beb0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eba28beb0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Nipun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eba28beb0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eba28beb0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Nipun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eba28beb0_5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aeba28beb0_5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eba28beb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aeba28beb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42fccd77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a42fccd77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Nur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91350" y="1050175"/>
            <a:ext cx="53613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20"/>
              <a:t>Predicting Gene Start Sites Using Machine Learning on Human and Bacterial Genomes</a:t>
            </a:r>
            <a:endParaRPr sz="2920"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91350" y="3000700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CSCI 4481: Computational Techniques for Genomics</a:t>
            </a:r>
            <a:endParaRPr/>
          </a:p>
        </p:txBody>
      </p:sp>
      <p:sp>
        <p:nvSpPr>
          <p:cNvPr id="130" name="Google Shape;130;p13"/>
          <p:cNvSpPr txBox="1"/>
          <p:nvPr>
            <p:ph idx="1" type="subTitle"/>
          </p:nvPr>
        </p:nvSpPr>
        <p:spPr>
          <a:xfrm>
            <a:off x="1635300" y="3555925"/>
            <a:ext cx="58734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Nur Daud, Jose Hernandez, Rebecca Hoff, </a:t>
            </a:r>
            <a:r>
              <a:rPr lang="en"/>
              <a:t>Andrew</a:t>
            </a:r>
            <a:r>
              <a:rPr lang="en"/>
              <a:t> Tomfohrde, Nipun Bhatnagar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type="title"/>
          </p:nvPr>
        </p:nvSpPr>
        <p:spPr>
          <a:xfrm>
            <a:off x="611425" y="519025"/>
            <a:ext cx="7713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r>
              <a:rPr lang="en"/>
              <a:t> </a:t>
            </a:r>
            <a:endParaRPr/>
          </a:p>
        </p:txBody>
      </p:sp>
      <p:sp>
        <p:nvSpPr>
          <p:cNvPr id="136" name="Google Shape;136;p14"/>
          <p:cNvSpPr txBox="1"/>
          <p:nvPr>
            <p:ph idx="1" type="body"/>
          </p:nvPr>
        </p:nvSpPr>
        <p:spPr>
          <a:xfrm>
            <a:off x="611425" y="1473625"/>
            <a:ext cx="4363500" cy="32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4000"/>
              <a:t>Genes </a:t>
            </a:r>
            <a:r>
              <a:rPr lang="en" sz="4000"/>
              <a:t>contain</a:t>
            </a:r>
            <a:r>
              <a:rPr lang="en" sz="4000"/>
              <a:t> the instructions to build </a:t>
            </a:r>
            <a:r>
              <a:rPr lang="en" sz="4000"/>
              <a:t>proteins</a:t>
            </a:r>
            <a:endParaRPr sz="4000"/>
          </a:p>
          <a:p>
            <a:pPr indent="-299799" lvl="0" marL="457200" rtl="0" algn="l">
              <a:spcBef>
                <a:spcPts val="0"/>
              </a:spcBef>
              <a:spcAft>
                <a:spcPts val="0"/>
              </a:spcAft>
              <a:buSzPct val="86250"/>
              <a:buChar char="●"/>
            </a:pPr>
            <a:r>
              <a:rPr lang="en" sz="4000"/>
              <a:t>The importance of predicting gene start sites enables evolutionary studies and gives insights about the functionalities and structure of proteins. </a:t>
            </a:r>
            <a:endParaRPr sz="40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4000"/>
              <a:t>Gene start site identification is important for accurate genome annotation.</a:t>
            </a:r>
            <a:endParaRPr sz="40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4000"/>
              <a:t>In humans, start codons appear within highly variable 5’ UTRs and introns</a:t>
            </a:r>
            <a:endParaRPr sz="40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4000"/>
              <a:t>In bacteria, start codons are often predicted by strong sequence motifs</a:t>
            </a:r>
            <a:endParaRPr sz="40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4000"/>
              <a:t>Machine learning can capture local nucleotide patterns and assist in identifying start sites.</a:t>
            </a:r>
            <a:endParaRPr sz="4000"/>
          </a:p>
        </p:txBody>
      </p:sp>
      <p:sp>
        <p:nvSpPr>
          <p:cNvPr id="137" name="Google Shape;137;p14"/>
          <p:cNvSpPr txBox="1"/>
          <p:nvPr/>
        </p:nvSpPr>
        <p:spPr>
          <a:xfrm>
            <a:off x="720275" y="4486725"/>
            <a:ext cx="44904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3750" y="1473631"/>
            <a:ext cx="3571875" cy="238601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4"/>
          <p:cNvSpPr txBox="1"/>
          <p:nvPr/>
        </p:nvSpPr>
        <p:spPr>
          <a:xfrm>
            <a:off x="5186238" y="3859650"/>
            <a:ext cx="3306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https://www.thoughtco.com/genes-373456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5053750" y="1473625"/>
            <a:ext cx="1185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Bailey, 2019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 </a:t>
            </a:r>
            <a:endParaRPr/>
          </a:p>
        </p:txBody>
      </p:sp>
      <p:sp>
        <p:nvSpPr>
          <p:cNvPr id="146" name="Google Shape;146;p15"/>
          <p:cNvSpPr txBox="1"/>
          <p:nvPr>
            <p:ph idx="1" type="body"/>
          </p:nvPr>
        </p:nvSpPr>
        <p:spPr>
          <a:xfrm>
            <a:off x="897150" y="1524650"/>
            <a:ext cx="27624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Human Dataset: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GRCh38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Homo sapiens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RefSeq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Extracted 100–300 bp windows around annotated start codons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Negative windows: ATG-centered but non-start regions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Encodings used: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1-hot (4 channels)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4-mer / 5-mer frequencies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4816175" y="1524650"/>
            <a:ext cx="27624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Bacterial Dataset: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958" lvl="0" marL="457200" rtl="0" algn="l">
              <a:spcBef>
                <a:spcPts val="1200"/>
              </a:spcBef>
              <a:spcAft>
                <a:spcPts val="0"/>
              </a:spcAft>
              <a:buSzPct val="118181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Genome: E. coli K-12 MG1655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18181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Window size: 401 bp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18181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“Iteration 2” negative sampler: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Scans all ATG/GTG/TTG codons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Removes true CDS starts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Filters boundary cases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Guarantees balanced dataset (4340 pos / 4340 neg)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 Evaluated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819150" y="167645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65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3"/>
              <a:buChar char="❖"/>
            </a:pPr>
            <a:r>
              <a:rPr lang="en" sz="1402"/>
              <a:t>Logistic Regression (Baseline)</a:t>
            </a:r>
            <a:endParaRPr sz="1402"/>
          </a:p>
          <a:p>
            <a:pPr indent="-3059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18"/>
              <a:buChar char="➢"/>
            </a:pPr>
            <a:r>
              <a:rPr lang="en" sz="1217"/>
              <a:t>max_iter=1000, l-bfgs solver</a:t>
            </a:r>
            <a:endParaRPr sz="1217"/>
          </a:p>
          <a:p>
            <a:pPr indent="-31765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3"/>
              <a:buChar char="❖"/>
            </a:pPr>
            <a:r>
              <a:rPr lang="en" sz="1402"/>
              <a:t>Random Forest with 4-mer Features</a:t>
            </a:r>
            <a:endParaRPr sz="1402"/>
          </a:p>
          <a:p>
            <a:pPr indent="-3059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18"/>
              <a:buChar char="➢"/>
            </a:pPr>
            <a:r>
              <a:rPr lang="en" sz="1217"/>
              <a:t>200 trees, balanced class weights, no max depth limit</a:t>
            </a:r>
            <a:endParaRPr sz="1217"/>
          </a:p>
          <a:p>
            <a:pPr indent="-31765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3"/>
              <a:buChar char="❖"/>
            </a:pPr>
            <a:r>
              <a:rPr lang="en" sz="1402"/>
              <a:t>XGBoost with 5-mer Features (v1.7.6)</a:t>
            </a:r>
            <a:endParaRPr sz="1402"/>
          </a:p>
          <a:p>
            <a:pPr indent="-3059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18"/>
              <a:buChar char="➢"/>
            </a:pPr>
            <a:r>
              <a:rPr lang="en" sz="1217"/>
              <a:t>500 trees, max depth 6, learning rate 0.1</a:t>
            </a:r>
            <a:endParaRPr sz="1217"/>
          </a:p>
          <a:p>
            <a:pPr indent="-31765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3"/>
              <a:buChar char="❖"/>
            </a:pPr>
            <a:r>
              <a:rPr lang="en" sz="1402"/>
              <a:t>Deep Multi-Layer Perceptron (MLP)</a:t>
            </a:r>
            <a:endParaRPr sz="1402"/>
          </a:p>
          <a:p>
            <a:pPr indent="-3059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18"/>
              <a:buChar char="➢"/>
            </a:pPr>
            <a:r>
              <a:rPr lang="en" sz="1217"/>
              <a:t>One-hot encoded DNA sequences (A=0, C=1, G=2, T=3)</a:t>
            </a:r>
            <a:endParaRPr sz="1217"/>
          </a:p>
          <a:p>
            <a:pPr indent="-3059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18"/>
              <a:buChar char="➢"/>
            </a:pPr>
            <a:r>
              <a:rPr lang="en" sz="1217"/>
              <a:t>5-layer network (1200 → 1024 → 512 → 256 → 128 → 1)</a:t>
            </a:r>
            <a:endParaRPr sz="1217"/>
          </a:p>
          <a:p>
            <a:pPr indent="-31765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3"/>
              <a:buChar char="❖"/>
            </a:pPr>
            <a:r>
              <a:rPr lang="en" sz="1402"/>
              <a:t>Deep 1D Convolutional Neural Network</a:t>
            </a:r>
            <a:endParaRPr sz="1402"/>
          </a:p>
          <a:p>
            <a:pPr indent="-3059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18"/>
              <a:buChar char="➢"/>
            </a:pPr>
            <a:r>
              <a:rPr lang="en" sz="1217"/>
              <a:t>Integer encoding (A=0, C=1, G=2, T=3)</a:t>
            </a:r>
            <a:endParaRPr sz="1217"/>
          </a:p>
          <a:p>
            <a:pPr indent="-3059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18"/>
              <a:buChar char="➢"/>
            </a:pPr>
            <a:r>
              <a:rPr lang="en" sz="1217"/>
              <a:t>3 convolutional layers + classifier</a:t>
            </a:r>
            <a:endParaRPr sz="1217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402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819150" y="470000"/>
            <a:ext cx="7505700" cy="6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Human Genome - </a:t>
            </a:r>
            <a:r>
              <a:rPr lang="en"/>
              <a:t>Logistic Regression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819150" y="1080800"/>
            <a:ext cx="2093700" cy="4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605"/>
              <a:buNone/>
            </a:pPr>
            <a:r>
              <a:rPr lang="en" sz="1515"/>
              <a:t>100 bp Window Results</a:t>
            </a:r>
            <a:br>
              <a:rPr lang="en" sz="1515"/>
            </a:br>
            <a:endParaRPr sz="1515"/>
          </a:p>
        </p:txBody>
      </p:sp>
      <p:graphicFrame>
        <p:nvGraphicFramePr>
          <p:cNvPr id="160" name="Google Shape;160;p17"/>
          <p:cNvGraphicFramePr/>
          <p:nvPr/>
        </p:nvGraphicFramePr>
        <p:xfrm>
          <a:off x="819150" y="153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{2C3991D4-AE75-41C2-905E-BA96777BEF1D}</a:tableStyleId>
              </a:tblPr>
              <a:tblGrid>
                <a:gridCol w="915675"/>
                <a:gridCol w="915675"/>
                <a:gridCol w="915675"/>
              </a:tblGrid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Metric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Class 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Class 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Precision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0.558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0.568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Recall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0.569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0.549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F1-Score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0.563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0.554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Support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4662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4659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Training Accuracy: </a:t>
                      </a:r>
                      <a:r>
                        <a:rPr lang="en" sz="1100"/>
                        <a:t>57.4%</a:t>
                      </a:r>
                      <a:endParaRPr b="1"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Overall Test Accuracy</a:t>
                      </a:r>
                      <a:r>
                        <a:rPr lang="en" sz="1100"/>
                        <a:t>: 55.9%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4793575" y="1080788"/>
            <a:ext cx="2093700" cy="4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605"/>
              <a:buNone/>
            </a:pPr>
            <a:r>
              <a:rPr lang="en" sz="1515"/>
              <a:t>3</a:t>
            </a:r>
            <a:r>
              <a:rPr lang="en" sz="1515"/>
              <a:t>00 bp Window Results</a:t>
            </a:r>
            <a:br>
              <a:rPr lang="en" sz="1515"/>
            </a:br>
            <a:endParaRPr sz="1515"/>
          </a:p>
        </p:txBody>
      </p:sp>
      <p:graphicFrame>
        <p:nvGraphicFramePr>
          <p:cNvPr id="162" name="Google Shape;162;p17"/>
          <p:cNvGraphicFramePr/>
          <p:nvPr/>
        </p:nvGraphicFramePr>
        <p:xfrm>
          <a:off x="4793575" y="1539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{2C3991D4-AE75-41C2-905E-BA96777BEF1D}</a:tableStyleId>
              </a:tblPr>
              <a:tblGrid>
                <a:gridCol w="915675"/>
                <a:gridCol w="915675"/>
                <a:gridCol w="915675"/>
              </a:tblGrid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Metric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Class 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Class 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Precision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0.565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0.565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Recall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0.565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0.566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F1-Score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0.565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0.566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Support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4662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4659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Training Accuracy: </a:t>
                      </a:r>
                      <a:r>
                        <a:rPr lang="en" sz="1100"/>
                        <a:t>60.5%</a:t>
                      </a:r>
                      <a:br>
                        <a:rPr b="1" lang="en" sz="1100"/>
                      </a:br>
                      <a:r>
                        <a:rPr b="1" lang="en" sz="1100"/>
                        <a:t>Overall Test Accuracy</a:t>
                      </a:r>
                      <a:r>
                        <a:rPr lang="en" sz="1100"/>
                        <a:t>: 56.5%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sp>
        <p:nvSpPr>
          <p:cNvPr id="163" name="Google Shape;163;p17"/>
          <p:cNvSpPr txBox="1"/>
          <p:nvPr/>
        </p:nvSpPr>
        <p:spPr>
          <a:xfrm>
            <a:off x="950525" y="4200650"/>
            <a:ext cx="6768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Observation</a:t>
            </a: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 Increasing the bp window 3x led to a improvement of +0.6% revealing the limitation lies in one-hot encoding, not window size.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17"/>
          <p:cNvCxnSpPr/>
          <p:nvPr/>
        </p:nvCxnSpPr>
        <p:spPr>
          <a:xfrm flipH="1" rot="10800000">
            <a:off x="3696875" y="3687075"/>
            <a:ext cx="966000" cy="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5" name="Google Shape;165;p17"/>
          <p:cNvSpPr txBox="1"/>
          <p:nvPr/>
        </p:nvSpPr>
        <p:spPr>
          <a:xfrm>
            <a:off x="3700675" y="3270700"/>
            <a:ext cx="737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+0.6%</a:t>
            </a:r>
            <a:endParaRPr sz="1300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3531725" y="3758775"/>
            <a:ext cx="129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overall</a:t>
            </a:r>
            <a:r>
              <a:rPr lang="en" sz="100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 improvement</a:t>
            </a:r>
            <a:endParaRPr sz="1000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/>
          <p:nvPr>
            <p:ph type="title"/>
          </p:nvPr>
        </p:nvSpPr>
        <p:spPr>
          <a:xfrm>
            <a:off x="819150" y="470000"/>
            <a:ext cx="7505700" cy="6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Human Genome - Deep MLP, and 1D CNN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819150" y="3573650"/>
            <a:ext cx="7452000" cy="12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Observation</a:t>
            </a: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Despite complex architectures and regularization, deep learning underperformed traditional ML. Possible causes: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-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Dataset size (~46k) may be insufficient for deep learning with limited parameters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-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One-hot and simple embeddings inadequate for capturing biological signals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-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Problem requires inductive bias that tree-based models provide naturally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3" name="Google Shape;173;p18"/>
          <p:cNvGraphicFramePr/>
          <p:nvPr/>
        </p:nvGraphicFramePr>
        <p:xfrm>
          <a:off x="903975" y="1440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{2C3991D4-AE75-41C2-905E-BA96777BEF1D}</a:tableStyleId>
              </a:tblPr>
              <a:tblGrid>
                <a:gridCol w="773000"/>
                <a:gridCol w="773000"/>
                <a:gridCol w="773000"/>
                <a:gridCol w="773000"/>
              </a:tblGrid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Metric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Class 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Class 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Precision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</a:t>
                      </a:r>
                      <a:r>
                        <a:rPr lang="en" sz="1100"/>
                        <a:t>547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</a:t>
                      </a:r>
                      <a:r>
                        <a:rPr lang="en" sz="1100"/>
                        <a:t>545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</a:t>
                      </a:r>
                      <a:r>
                        <a:rPr lang="en" sz="1100"/>
                        <a:t>546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Recall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</a:t>
                      </a:r>
                      <a:r>
                        <a:rPr lang="en" sz="1100"/>
                        <a:t>536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</a:t>
                      </a:r>
                      <a:r>
                        <a:rPr lang="en" sz="1100"/>
                        <a:t>556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</a:t>
                      </a:r>
                      <a:r>
                        <a:rPr lang="en" sz="1100"/>
                        <a:t>546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F1-Score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</a:t>
                      </a:r>
                      <a:r>
                        <a:rPr lang="en" sz="1100"/>
                        <a:t>541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</a:t>
                      </a:r>
                      <a:r>
                        <a:rPr lang="en" sz="1100"/>
                        <a:t>550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</a:t>
                      </a:r>
                      <a:r>
                        <a:rPr lang="en" sz="1100"/>
                        <a:t>546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gridSpan="4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Overall Test Accuracy</a:t>
                      </a:r>
                      <a:r>
                        <a:rPr lang="en" sz="1100"/>
                        <a:t>: </a:t>
                      </a:r>
                      <a:r>
                        <a:rPr lang="en" sz="1100"/>
                        <a:t>54.6%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</a:tbl>
          </a:graphicData>
        </a:graphic>
      </p:graphicFrame>
      <p:sp>
        <p:nvSpPr>
          <p:cNvPr id="174" name="Google Shape;174;p18"/>
          <p:cNvSpPr txBox="1"/>
          <p:nvPr>
            <p:ph idx="1" type="body"/>
          </p:nvPr>
        </p:nvSpPr>
        <p:spPr>
          <a:xfrm>
            <a:off x="811715" y="1121945"/>
            <a:ext cx="2706900" cy="4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605"/>
              <a:buNone/>
            </a:pPr>
            <a:r>
              <a:rPr lang="en" sz="1515"/>
              <a:t>Deep MLP</a:t>
            </a:r>
            <a:r>
              <a:rPr lang="en" sz="1515"/>
              <a:t>: one hot</a:t>
            </a:r>
            <a:endParaRPr sz="1515"/>
          </a:p>
        </p:txBody>
      </p:sp>
      <p:sp>
        <p:nvSpPr>
          <p:cNvPr id="175" name="Google Shape;175;p18"/>
          <p:cNvSpPr txBox="1"/>
          <p:nvPr>
            <p:ph idx="1" type="body"/>
          </p:nvPr>
        </p:nvSpPr>
        <p:spPr>
          <a:xfrm>
            <a:off x="5013597" y="1092580"/>
            <a:ext cx="2093700" cy="4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605"/>
              <a:buNone/>
            </a:pPr>
            <a:r>
              <a:rPr lang="en" sz="1515"/>
              <a:t>1D CNN</a:t>
            </a:r>
            <a:r>
              <a:rPr lang="en" sz="1515"/>
              <a:t>: 5-mer counts</a:t>
            </a:r>
            <a:endParaRPr sz="1515"/>
          </a:p>
        </p:txBody>
      </p:sp>
      <p:graphicFrame>
        <p:nvGraphicFramePr>
          <p:cNvPr id="176" name="Google Shape;176;p18"/>
          <p:cNvGraphicFramePr/>
          <p:nvPr/>
        </p:nvGraphicFramePr>
        <p:xfrm>
          <a:off x="5094325" y="140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{2C3991D4-AE75-41C2-905E-BA96777BEF1D}</a:tableStyleId>
              </a:tblPr>
              <a:tblGrid>
                <a:gridCol w="773000"/>
                <a:gridCol w="773000"/>
                <a:gridCol w="773000"/>
                <a:gridCol w="773000"/>
              </a:tblGrid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Metric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Class 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Class 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Precision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</a:t>
                      </a:r>
                      <a:r>
                        <a:rPr lang="en" sz="1100"/>
                        <a:t>555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</a:t>
                      </a:r>
                      <a:r>
                        <a:rPr lang="en" sz="1100"/>
                        <a:t>601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</a:t>
                      </a:r>
                      <a:r>
                        <a:rPr lang="en" sz="1100"/>
                        <a:t>578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Recall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</a:t>
                      </a:r>
                      <a:r>
                        <a:rPr lang="en" sz="1100"/>
                        <a:t>718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</a:t>
                      </a:r>
                      <a:r>
                        <a:rPr lang="en" sz="1100"/>
                        <a:t>424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</a:t>
                      </a:r>
                      <a:r>
                        <a:rPr lang="en" sz="1100"/>
                        <a:t>571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F1-Score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</a:t>
                      </a:r>
                      <a:r>
                        <a:rPr lang="en" sz="1100"/>
                        <a:t>626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</a:t>
                      </a:r>
                      <a:r>
                        <a:rPr lang="en" sz="1100"/>
                        <a:t>497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</a:t>
                      </a:r>
                      <a:r>
                        <a:rPr lang="en" sz="1100"/>
                        <a:t>562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250">
                <a:tc gridSpan="4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Overall Test Accuracy</a:t>
                      </a:r>
                      <a:r>
                        <a:rPr lang="en" sz="1100"/>
                        <a:t>: </a:t>
                      </a:r>
                      <a:r>
                        <a:rPr lang="en" sz="1100"/>
                        <a:t>57.1%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9"/>
          <p:cNvSpPr txBox="1"/>
          <p:nvPr>
            <p:ph type="title"/>
          </p:nvPr>
        </p:nvSpPr>
        <p:spPr>
          <a:xfrm>
            <a:off x="819150" y="470000"/>
            <a:ext cx="7505700" cy="6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Human Genome - Top Performers </a:t>
            </a:r>
            <a:endParaRPr/>
          </a:p>
        </p:txBody>
      </p:sp>
      <p:graphicFrame>
        <p:nvGraphicFramePr>
          <p:cNvPr id="182" name="Google Shape;182;p19"/>
          <p:cNvGraphicFramePr/>
          <p:nvPr/>
        </p:nvGraphicFramePr>
        <p:xfrm>
          <a:off x="942850" y="1532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{2C3991D4-AE75-41C2-905E-BA96777BEF1D}</a:tableStyleId>
              </a:tblPr>
              <a:tblGrid>
                <a:gridCol w="773000"/>
                <a:gridCol w="773000"/>
                <a:gridCol w="773000"/>
                <a:gridCol w="773000"/>
              </a:tblGrid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Metric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Class 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Class 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Precision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0.585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0.636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0.610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Recall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0.720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0.489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0.604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F1-Score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0.563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0.554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0.599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gridSpan="4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Overall Test Accuracy</a:t>
                      </a:r>
                      <a:r>
                        <a:rPr lang="en" sz="1100"/>
                        <a:t>: 60.4%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</a:tbl>
          </a:graphicData>
        </a:graphic>
      </p:graphicFrame>
      <p:sp>
        <p:nvSpPr>
          <p:cNvPr id="183" name="Google Shape;183;p19"/>
          <p:cNvSpPr txBox="1"/>
          <p:nvPr/>
        </p:nvSpPr>
        <p:spPr>
          <a:xfrm>
            <a:off x="942850" y="3752225"/>
            <a:ext cx="67686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Observation</a:t>
            </a: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-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Random Forest with 4-mers achieved 60.4% accuracy (best overall)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-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XGBoost with 5-mers: 58.8% accuracy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-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Both significantly better than one-hot + neural networks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 txBox="1"/>
          <p:nvPr>
            <p:ph idx="1" type="body"/>
          </p:nvPr>
        </p:nvSpPr>
        <p:spPr>
          <a:xfrm>
            <a:off x="885187" y="1190880"/>
            <a:ext cx="2706900" cy="4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605"/>
              <a:buNone/>
            </a:pPr>
            <a:r>
              <a:rPr lang="en" sz="1515"/>
              <a:t>Random Forest: 4-mer counts</a:t>
            </a:r>
            <a:endParaRPr sz="1515"/>
          </a:p>
        </p:txBody>
      </p:sp>
      <p:sp>
        <p:nvSpPr>
          <p:cNvPr id="185" name="Google Shape;185;p19"/>
          <p:cNvSpPr txBox="1"/>
          <p:nvPr>
            <p:ph idx="1" type="body"/>
          </p:nvPr>
        </p:nvSpPr>
        <p:spPr>
          <a:xfrm>
            <a:off x="5075537" y="1161515"/>
            <a:ext cx="2093700" cy="4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605"/>
              <a:buNone/>
            </a:pPr>
            <a:r>
              <a:rPr lang="en" sz="1515"/>
              <a:t>XgBoost: 5-mer counts</a:t>
            </a:r>
            <a:endParaRPr sz="1515"/>
          </a:p>
        </p:txBody>
      </p:sp>
      <p:graphicFrame>
        <p:nvGraphicFramePr>
          <p:cNvPr id="186" name="Google Shape;186;p19"/>
          <p:cNvGraphicFramePr/>
          <p:nvPr/>
        </p:nvGraphicFramePr>
        <p:xfrm>
          <a:off x="5133200" y="149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{2C3991D4-AE75-41C2-905E-BA96777BEF1D}</a:tableStyleId>
              </a:tblPr>
              <a:tblGrid>
                <a:gridCol w="773000"/>
                <a:gridCol w="773000"/>
                <a:gridCol w="773000"/>
                <a:gridCol w="773000"/>
              </a:tblGrid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Metric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Class 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Class 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Precision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0.585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</a:t>
                      </a:r>
                      <a:r>
                        <a:rPr lang="en" sz="1100"/>
                        <a:t>592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</a:t>
                      </a:r>
                      <a:r>
                        <a:rPr lang="en" sz="1100"/>
                        <a:t>588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Recall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0.611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</a:t>
                      </a:r>
                      <a:r>
                        <a:rPr lang="en" sz="1100"/>
                        <a:t>566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</a:t>
                      </a:r>
                      <a:r>
                        <a:rPr lang="en" sz="1100"/>
                        <a:t>588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F1-Score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</a:t>
                      </a:r>
                      <a:r>
                        <a:rPr lang="en" sz="1100"/>
                        <a:t>597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</a:t>
                      </a:r>
                      <a:r>
                        <a:rPr lang="en" sz="1100"/>
                        <a:t>579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</a:t>
                      </a:r>
                      <a:r>
                        <a:rPr lang="en" sz="1100"/>
                        <a:t>588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1875">
                <a:tc gridSpan="4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Overall Test Accuracy</a:t>
                      </a:r>
                      <a:r>
                        <a:rPr lang="en" sz="1100"/>
                        <a:t>: </a:t>
                      </a:r>
                      <a:r>
                        <a:rPr lang="en" sz="1100"/>
                        <a:t>58.8%</a:t>
                      </a:r>
                      <a:br>
                        <a:rPr lang="en" sz="1100"/>
                      </a:br>
                      <a:r>
                        <a:rPr lang="en" sz="1100"/>
                        <a:t>*Generated visualization of top 20 most important 5-mers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"/>
          <p:cNvSpPr txBox="1"/>
          <p:nvPr>
            <p:ph type="title"/>
          </p:nvPr>
        </p:nvSpPr>
        <p:spPr>
          <a:xfrm>
            <a:off x="472050" y="521550"/>
            <a:ext cx="81999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Bacteria Genome- Logistic Regression &amp; Random Forest</a:t>
            </a:r>
            <a:endParaRPr/>
          </a:p>
        </p:txBody>
      </p:sp>
      <p:graphicFrame>
        <p:nvGraphicFramePr>
          <p:cNvPr id="192" name="Google Shape;192;p20"/>
          <p:cNvGraphicFramePr/>
          <p:nvPr/>
        </p:nvGraphicFramePr>
        <p:xfrm>
          <a:off x="646425" y="1811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{2C3991D4-AE75-41C2-905E-BA96777BEF1D}</a:tableStyleId>
              </a:tblPr>
              <a:tblGrid>
                <a:gridCol w="773000"/>
                <a:gridCol w="773000"/>
                <a:gridCol w="773000"/>
                <a:gridCol w="773000"/>
              </a:tblGrid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Metric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Class 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Class 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Precision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0.900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0.880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0.890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Recall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0.870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0.910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0.890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F1-Score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0.890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0.890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0.890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gridSpan="4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Overall Test Accuracy</a:t>
                      </a:r>
                      <a:r>
                        <a:rPr lang="en" sz="1100"/>
                        <a:t>: 89%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</a:tbl>
          </a:graphicData>
        </a:graphic>
      </p:graphicFrame>
      <p:sp>
        <p:nvSpPr>
          <p:cNvPr id="193" name="Google Shape;193;p20"/>
          <p:cNvSpPr txBox="1"/>
          <p:nvPr/>
        </p:nvSpPr>
        <p:spPr>
          <a:xfrm>
            <a:off x="646425" y="4031200"/>
            <a:ext cx="6768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Observation</a:t>
            </a: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-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 significant difference between both models. 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-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Higher </a:t>
            </a: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than the human genome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 txBox="1"/>
          <p:nvPr>
            <p:ph idx="1" type="body"/>
          </p:nvPr>
        </p:nvSpPr>
        <p:spPr>
          <a:xfrm>
            <a:off x="646425" y="1308400"/>
            <a:ext cx="3177900" cy="4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605"/>
              <a:buNone/>
            </a:pPr>
            <a:r>
              <a:rPr lang="en" sz="1515"/>
              <a:t>Logistic Regression - </a:t>
            </a:r>
            <a:r>
              <a:rPr lang="en"/>
              <a:t>400 bp windows</a:t>
            </a:r>
            <a:endParaRPr sz="1515"/>
          </a:p>
        </p:txBody>
      </p:sp>
      <p:sp>
        <p:nvSpPr>
          <p:cNvPr id="195" name="Google Shape;195;p20"/>
          <p:cNvSpPr txBox="1"/>
          <p:nvPr>
            <p:ph idx="1" type="body"/>
          </p:nvPr>
        </p:nvSpPr>
        <p:spPr>
          <a:xfrm>
            <a:off x="4836775" y="1359775"/>
            <a:ext cx="3092100" cy="4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605"/>
              <a:buNone/>
            </a:pPr>
            <a:r>
              <a:rPr lang="en" sz="1515"/>
              <a:t>Random Forest - </a:t>
            </a:r>
            <a:r>
              <a:rPr lang="en"/>
              <a:t>400 bp windows</a:t>
            </a:r>
            <a:endParaRPr sz="1515"/>
          </a:p>
        </p:txBody>
      </p:sp>
      <p:graphicFrame>
        <p:nvGraphicFramePr>
          <p:cNvPr id="196" name="Google Shape;196;p20"/>
          <p:cNvGraphicFramePr/>
          <p:nvPr/>
        </p:nvGraphicFramePr>
        <p:xfrm>
          <a:off x="4836775" y="1775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{2C3991D4-AE75-41C2-905E-BA96777BEF1D}</a:tableStyleId>
              </a:tblPr>
              <a:tblGrid>
                <a:gridCol w="773000"/>
                <a:gridCol w="773000"/>
                <a:gridCol w="773000"/>
                <a:gridCol w="773000"/>
              </a:tblGrid>
              <a:tr h="543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Metric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Class 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Class 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39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Precision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0.82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0.96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0.89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Recall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0.97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0.79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0.88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F1-Score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0.89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0.87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0.88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950">
                <a:tc gridSpan="4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Overall Test Accuracy</a:t>
                      </a:r>
                      <a:r>
                        <a:rPr lang="en" sz="1100"/>
                        <a:t>: 88%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 txBox="1"/>
          <p:nvPr>
            <p:ph type="title"/>
          </p:nvPr>
        </p:nvSpPr>
        <p:spPr>
          <a:xfrm>
            <a:off x="494000" y="671225"/>
            <a:ext cx="78309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Bacteria Genome - CNN</a:t>
            </a:r>
            <a:endParaRPr/>
          </a:p>
        </p:txBody>
      </p:sp>
      <p:graphicFrame>
        <p:nvGraphicFramePr>
          <p:cNvPr id="202" name="Google Shape;202;p21"/>
          <p:cNvGraphicFramePr/>
          <p:nvPr/>
        </p:nvGraphicFramePr>
        <p:xfrm>
          <a:off x="646425" y="1811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{2C3991D4-AE75-41C2-905E-BA96777BEF1D}</a:tableStyleId>
              </a:tblPr>
              <a:tblGrid>
                <a:gridCol w="773000"/>
                <a:gridCol w="773000"/>
                <a:gridCol w="773000"/>
                <a:gridCol w="773000"/>
              </a:tblGrid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Metric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Class 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Class 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Precision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0.96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0.95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0.955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Recall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0.95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0.96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0.955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F1-Score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0.95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0.95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0.95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gridSpan="4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Overall Test Accuracy</a:t>
                      </a:r>
                      <a:r>
                        <a:rPr lang="en" sz="1100"/>
                        <a:t>: 95.5%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</a:tbl>
          </a:graphicData>
        </a:graphic>
      </p:graphicFrame>
      <p:sp>
        <p:nvSpPr>
          <p:cNvPr id="203" name="Google Shape;203;p21"/>
          <p:cNvSpPr txBox="1"/>
          <p:nvPr/>
        </p:nvSpPr>
        <p:spPr>
          <a:xfrm>
            <a:off x="494000" y="3944625"/>
            <a:ext cx="72312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Observation</a:t>
            </a:r>
            <a:r>
              <a:rPr lang="en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Why CNN is able to perform best: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-"/>
            </a:pPr>
            <a:r>
              <a:rPr lang="en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Captures Shine–Dalgarno motifs.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-"/>
            </a:pPr>
            <a:r>
              <a:rPr lang="en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Learns spacing between motif and start codon.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-"/>
            </a:pPr>
            <a:r>
              <a:rPr lang="en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Detects subtle multi-base patterns humans cannot manually engineer.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 txBox="1"/>
          <p:nvPr>
            <p:ph idx="1" type="body"/>
          </p:nvPr>
        </p:nvSpPr>
        <p:spPr>
          <a:xfrm>
            <a:off x="646425" y="1308400"/>
            <a:ext cx="3177900" cy="4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605"/>
              <a:buNone/>
            </a:pPr>
            <a:r>
              <a:rPr lang="en" sz="1515"/>
              <a:t>Convolutional Neural Network</a:t>
            </a:r>
            <a:endParaRPr sz="1515"/>
          </a:p>
        </p:txBody>
      </p:sp>
      <p:pic>
        <p:nvPicPr>
          <p:cNvPr id="205" name="Google Shape;205;p21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0439" y="2571750"/>
            <a:ext cx="4309034" cy="20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6330" y="722250"/>
            <a:ext cx="2129970" cy="184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</a:t>
            </a:r>
            <a:endParaRPr/>
          </a:p>
        </p:txBody>
      </p:sp>
      <p:sp>
        <p:nvSpPr>
          <p:cNvPr id="212" name="Google Shape;212;p22"/>
          <p:cNvSpPr txBox="1"/>
          <p:nvPr>
            <p:ph idx="1" type="body"/>
          </p:nvPr>
        </p:nvSpPr>
        <p:spPr>
          <a:xfrm>
            <a:off x="819150" y="1479550"/>
            <a:ext cx="7505700" cy="3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/>
              <a:t>Why bacteria worked:</a:t>
            </a:r>
            <a:endParaRPr b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/>
              <a:t>Bacteria have no introns, have clear start codons, strong upstream motifs(Shine-Dalgarno), compact genes and consistent annotation</a:t>
            </a:r>
            <a:endParaRPr b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/>
              <a:t>CDS annotations are extremely accurate and standardized.</a:t>
            </a:r>
            <a:endParaRPr b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/>
              <a:t>CNNs excel when motifs are localized and position dependent</a:t>
            </a:r>
            <a:endParaRPr b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/>
              <a:t>Logistic regression and Random Forest work well due to the strong motif structure.</a:t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/>
              <a:t>Human dataset models were limited by weak biological signals.</a:t>
            </a:r>
            <a:endParaRPr b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/>
              <a:t>Human genes have introns, UTRs, </a:t>
            </a:r>
            <a:r>
              <a:rPr b="1" lang="en"/>
              <a:t>alternative</a:t>
            </a:r>
            <a:r>
              <a:rPr b="1" lang="en"/>
              <a:t> start sites and multiple isoforms</a:t>
            </a:r>
            <a:endParaRPr b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/>
              <a:t>Many of the extracted windows did not actually contain the canonical start codon in the expected reading frame</a:t>
            </a:r>
            <a:endParaRPr b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/>
              <a:t>Many windows were </a:t>
            </a:r>
            <a:r>
              <a:rPr b="1" lang="en"/>
              <a:t>filled</a:t>
            </a:r>
            <a:r>
              <a:rPr b="1" lang="en"/>
              <a:t> with bases like NNNN, meaning that the true </a:t>
            </a:r>
            <a:r>
              <a:rPr b="1" lang="en"/>
              <a:t>sequence</a:t>
            </a:r>
            <a:r>
              <a:rPr b="1" lang="en"/>
              <a:t> was not known </a:t>
            </a:r>
            <a:endParaRPr b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/>
              <a:t>All of these resulted in </a:t>
            </a:r>
            <a:r>
              <a:rPr b="1" lang="en"/>
              <a:t>training</a:t>
            </a:r>
            <a:r>
              <a:rPr b="1" lang="en"/>
              <a:t> labels that were unreliable.</a:t>
            </a:r>
            <a:endParaRPr b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/>
              <a:t>Lack of a consistent motif meant that the models would </a:t>
            </a:r>
            <a:r>
              <a:rPr b="1" lang="en"/>
              <a:t>saturate</a:t>
            </a:r>
            <a:r>
              <a:rPr b="1" lang="en"/>
              <a:t> at ~55-60%</a:t>
            </a:r>
            <a:endParaRPr b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/>
              <a:t>Any attempt at adding window length or utilizing deeper </a:t>
            </a:r>
            <a:r>
              <a:rPr b="1" lang="en"/>
              <a:t>models</a:t>
            </a:r>
            <a:r>
              <a:rPr b="1" lang="en"/>
              <a:t> does not help because the underlying biological signal is weak.</a:t>
            </a:r>
            <a:endParaRPr b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/>
              <a:t>This shows how the machine learning ceiling for human start site prediction is biologically imposed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